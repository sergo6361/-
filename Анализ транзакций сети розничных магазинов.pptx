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12192000" cy="6858000"/>
  <p:embeddedFontLst>
    <p:embeddedFont>
      <p:font typeface="UPLWTL+Calibri-Light"/>
      <p:regular r:id="rId15"/>
    </p:embeddedFont>
    <p:embeddedFont>
      <p:font typeface="MFLTJR+ArialMT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font" Target="fonts/font1.fntdata" /><Relationship Id="rId16" Type="http://schemas.openxmlformats.org/officeDocument/2006/relationships/font" Target="fonts/font2.fntdata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Relationship Id="rId3" Type="http://schemas.openxmlformats.org/officeDocument/2006/relationships/hyperlink" Target="https://docs.google.com/spreadsheets/d/1Jz0Vfgq4kjABFjfLpwoQf8as2O2byhRW3p2XY66DX8I/edit?gid=987017337#gid=987017337" TargetMode="Externa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130425" y="1821759"/>
            <a:ext cx="9110063" cy="27599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251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0">
                <a:solidFill>
                  <a:srgbClr val="000000"/>
                </a:solidFill>
                <a:latin typeface="UPLWTL+Calibri-Light"/>
                <a:cs typeface="UPLWTL+Calibri-Light"/>
              </a:rPr>
              <a:t>Анализ</a:t>
            </a:r>
            <a:r>
              <a:rPr dirty="0" sz="60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6000">
                <a:solidFill>
                  <a:srgbClr val="000000"/>
                </a:solidFill>
                <a:latin typeface="UPLWTL+Calibri-Light"/>
                <a:cs typeface="UPLWTL+Calibri-Light"/>
              </a:rPr>
              <a:t>данных</a:t>
            </a:r>
            <a:r>
              <a:rPr dirty="0" sz="60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6000">
                <a:solidFill>
                  <a:srgbClr val="000000"/>
                </a:solidFill>
                <a:latin typeface="UPLWTL+Calibri-Light"/>
                <a:cs typeface="UPLWTL+Calibri-Light"/>
              </a:rPr>
              <a:t>сентябрь</a:t>
            </a:r>
          </a:p>
          <a:p>
            <a:pPr marL="3194050" marR="0">
              <a:lnSpc>
                <a:spcPts val="6251"/>
              </a:lnSpc>
              <a:spcBef>
                <a:spcPts val="178"/>
              </a:spcBef>
              <a:spcAft>
                <a:spcPts val="0"/>
              </a:spcAft>
            </a:pPr>
            <a:r>
              <a:rPr dirty="0" sz="6000">
                <a:solidFill>
                  <a:srgbClr val="000000"/>
                </a:solidFill>
                <a:latin typeface="UPLWTL+Calibri-Light"/>
                <a:cs typeface="UPLWTL+Calibri-Light"/>
              </a:rPr>
              <a:t>2022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21350" y="3657254"/>
            <a:ext cx="2485592" cy="16871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1.</a:t>
            </a: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 </a:t>
            </a: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Инциденты.</a:t>
            </a:r>
          </a:p>
          <a:p>
            <a:pPr marL="0" marR="0">
              <a:lnSpc>
                <a:spcPts val="2500"/>
              </a:lnSpc>
              <a:spcBef>
                <a:spcPts val="1091"/>
              </a:spcBef>
              <a:spcAft>
                <a:spcPts val="0"/>
              </a:spcAft>
            </a:pP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2.</a:t>
            </a: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 </a:t>
            </a: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Маркетинг.</a:t>
            </a:r>
          </a:p>
          <a:p>
            <a:pPr marL="0" marR="0">
              <a:lnSpc>
                <a:spcPts val="2500"/>
              </a:lnSpc>
              <a:spcBef>
                <a:spcPts val="1091"/>
              </a:spcBef>
              <a:spcAft>
                <a:spcPts val="0"/>
              </a:spcAft>
            </a:pP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3.</a:t>
            </a: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 </a:t>
            </a:r>
            <a:r>
              <a:rPr dirty="0" sz="2400">
                <a:solidFill>
                  <a:srgbClr val="0f1119"/>
                </a:solidFill>
                <a:latin typeface="MFLTJR+ArialMT"/>
                <a:cs typeface="MFLTJR+ArialMT"/>
              </a:rPr>
              <a:t>Дашборды.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640" y="728674"/>
            <a:ext cx="6823500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Анализ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роста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транзакций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21099" y="1933950"/>
            <a:ext cx="3618378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1400" spc="-42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в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динамике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по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ТТ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85020" y="2228507"/>
            <a:ext cx="405377" cy="31653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3500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3000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2500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2000</a:t>
            </a:r>
          </a:p>
          <a:p>
            <a:pPr marL="0" marR="0">
              <a:lnSpc>
                <a:spcPts val="937"/>
              </a:lnSpc>
              <a:spcBef>
                <a:spcPts val="283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1500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1000</a:t>
            </a:r>
          </a:p>
          <a:p>
            <a:pPr marL="60325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85374" y="3564451"/>
            <a:ext cx="1296257" cy="717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Ленинский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пр-т,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162/1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пр-т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Вернадского,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88к3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Ракетный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б-р,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14к1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16490" y="3899072"/>
            <a:ext cx="1465688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985374" y="4204531"/>
            <a:ext cx="1444558" cy="7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Симферопольский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б-р,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22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ул.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Чертановская,</a:t>
            </a:r>
            <a:r>
              <a:rPr dirty="0" sz="900" spc="20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20к2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ул.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Щорса,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26/3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59645" y="5582387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72275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240814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09352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77891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91931" y="5859223"/>
            <a:ext cx="1301905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Дни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(Сентябрь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2022)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31228" y="728674"/>
            <a:ext cx="7677454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Анализ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нагрузки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на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серверы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9410" y="2131545"/>
            <a:ext cx="11869927" cy="7747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Первоначальная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нагрузка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на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серверы</a:t>
            </a:r>
            <a:r>
              <a:rPr dirty="0" sz="2400" spc="2715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Нагрузка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на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серверы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с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переносом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0000"/>
                </a:solidFill>
                <a:latin typeface="Calibri"/>
                <a:cs typeface="Calibri"/>
              </a:rPr>
              <a:t>ТТ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78408" y="2613400"/>
            <a:ext cx="3085280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Нагрузка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на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сервера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ТТ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в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динамике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28344" y="2620365"/>
            <a:ext cx="4218557" cy="8604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Нагрузка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на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сервера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ТТ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в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динамике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(с</a:t>
            </a:r>
          </a:p>
          <a:p>
            <a:pPr marL="797836" marR="0">
              <a:lnSpc>
                <a:spcPts val="1875"/>
              </a:lnSpc>
              <a:spcBef>
                <a:spcPts val="324"/>
              </a:spcBef>
              <a:spcAft>
                <a:spcPts val="0"/>
              </a:spcAft>
            </a:pP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переносом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новой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595959"/>
                </a:solidFill>
                <a:latin typeface="Calibri"/>
                <a:cs typeface="Calibri"/>
              </a:rPr>
              <a:t>ТТ)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86608" y="2907957"/>
            <a:ext cx="403175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5000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86608" y="3176670"/>
            <a:ext cx="403175" cy="10966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4500</a:t>
            </a:r>
          </a:p>
          <a:p>
            <a:pPr marL="0" marR="0">
              <a:lnSpc>
                <a:spcPts val="937"/>
              </a:lnSpc>
              <a:spcBef>
                <a:spcPts val="1228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4000</a:t>
            </a:r>
          </a:p>
          <a:p>
            <a:pPr marL="0" marR="0">
              <a:lnSpc>
                <a:spcPts val="937"/>
              </a:lnSpc>
              <a:spcBef>
                <a:spcPts val="1178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3500</a:t>
            </a:r>
          </a:p>
          <a:p>
            <a:pPr marL="0" marR="0">
              <a:lnSpc>
                <a:spcPts val="937"/>
              </a:lnSpc>
              <a:spcBef>
                <a:spcPts val="1178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3000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619020" y="3248316"/>
            <a:ext cx="403175" cy="12292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5000</a:t>
            </a:r>
          </a:p>
          <a:p>
            <a:pPr marL="0" marR="0">
              <a:lnSpc>
                <a:spcPts val="937"/>
              </a:lnSpc>
              <a:spcBef>
                <a:spcPts val="96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4500</a:t>
            </a:r>
          </a:p>
          <a:p>
            <a:pPr marL="0" marR="0">
              <a:lnSpc>
                <a:spcPts val="937"/>
              </a:lnSpc>
              <a:spcBef>
                <a:spcPts val="91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4000</a:t>
            </a:r>
          </a:p>
          <a:p>
            <a:pPr marL="0" marR="0">
              <a:lnSpc>
                <a:spcPts val="937"/>
              </a:lnSpc>
              <a:spcBef>
                <a:spcPts val="96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3500</a:t>
            </a:r>
          </a:p>
          <a:p>
            <a:pPr marL="0" marR="0">
              <a:lnSpc>
                <a:spcPts val="937"/>
              </a:lnSpc>
              <a:spcBef>
                <a:spcPts val="91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3000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18078" y="4245148"/>
            <a:ext cx="1724963" cy="3196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2500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795264" y="4230566"/>
            <a:ext cx="229381" cy="717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50490" y="4415327"/>
            <a:ext cx="1724964" cy="3196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2500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153077" y="4400747"/>
            <a:ext cx="229381" cy="7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86608" y="4520235"/>
            <a:ext cx="405377" cy="13654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2000</a:t>
            </a:r>
          </a:p>
          <a:p>
            <a:pPr marL="0" marR="0">
              <a:lnSpc>
                <a:spcPts val="937"/>
              </a:lnSpc>
              <a:spcBef>
                <a:spcPts val="1228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1500</a:t>
            </a:r>
          </a:p>
          <a:p>
            <a:pPr marL="0" marR="0">
              <a:lnSpc>
                <a:spcPts val="937"/>
              </a:lnSpc>
              <a:spcBef>
                <a:spcPts val="1178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1000</a:t>
            </a:r>
          </a:p>
          <a:p>
            <a:pPr marL="60325" marR="0">
              <a:lnSpc>
                <a:spcPts val="937"/>
              </a:lnSpc>
              <a:spcBef>
                <a:spcPts val="1178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500</a:t>
            </a:r>
          </a:p>
          <a:p>
            <a:pPr marL="174625" marR="0">
              <a:lnSpc>
                <a:spcPts val="937"/>
              </a:lnSpc>
              <a:spcBef>
                <a:spcPts val="1178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619020" y="4656378"/>
            <a:ext cx="405377" cy="12292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2000</a:t>
            </a:r>
          </a:p>
          <a:p>
            <a:pPr marL="0" marR="0">
              <a:lnSpc>
                <a:spcPts val="937"/>
              </a:lnSpc>
              <a:spcBef>
                <a:spcPts val="96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1500</a:t>
            </a:r>
          </a:p>
          <a:p>
            <a:pPr marL="0" marR="0">
              <a:lnSpc>
                <a:spcPts val="937"/>
              </a:lnSpc>
              <a:spcBef>
                <a:spcPts val="91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1000</a:t>
            </a:r>
          </a:p>
          <a:p>
            <a:pPr marL="60325" marR="0">
              <a:lnSpc>
                <a:spcPts val="937"/>
              </a:lnSpc>
              <a:spcBef>
                <a:spcPts val="96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500</a:t>
            </a:r>
          </a:p>
          <a:p>
            <a:pPr marL="174625" marR="0">
              <a:lnSpc>
                <a:spcPts val="937"/>
              </a:lnSpc>
              <a:spcBef>
                <a:spcPts val="91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29183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608363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287544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966724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264770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50301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635831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321362" y="57335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414802" y="5871923"/>
            <a:ext cx="1301905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Дни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(Сентябрь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2022)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759915" y="5871922"/>
            <a:ext cx="1301905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Дни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(Сентябрь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2022)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640" y="728674"/>
            <a:ext cx="8596288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Анализ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касс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самообслуживания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44871" y="1933950"/>
            <a:ext cx="4562942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Доля</a:t>
            </a:r>
            <a:r>
              <a:rPr dirty="0" sz="1400" spc="-41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кассовых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(самообслуживание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(1)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88880" y="1933950"/>
            <a:ext cx="4550958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Динамика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среднего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времени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обработки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платежа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по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729196" y="2149850"/>
            <a:ext cx="1672426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обычные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кассы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(0)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64102" y="2149850"/>
            <a:ext cx="665534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дням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83780" y="2444407"/>
            <a:ext cx="426950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100%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59080" y="2444407"/>
            <a:ext cx="432029" cy="34285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140.0</a:t>
            </a:r>
          </a:p>
          <a:p>
            <a:pPr marL="0" marR="0">
              <a:lnSpc>
                <a:spcPts val="937"/>
              </a:lnSpc>
              <a:spcBef>
                <a:spcPts val="264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120.0</a:t>
            </a:r>
          </a:p>
          <a:p>
            <a:pPr marL="0" marR="0">
              <a:lnSpc>
                <a:spcPts val="937"/>
              </a:lnSpc>
              <a:spcBef>
                <a:spcPts val="259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100.0</a:t>
            </a:r>
          </a:p>
          <a:p>
            <a:pPr marL="53975" marR="0">
              <a:lnSpc>
                <a:spcPts val="937"/>
              </a:lnSpc>
              <a:spcBef>
                <a:spcPts val="259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80.0</a:t>
            </a:r>
          </a:p>
          <a:p>
            <a:pPr marL="53975" marR="0">
              <a:lnSpc>
                <a:spcPts val="937"/>
              </a:lnSpc>
              <a:spcBef>
                <a:spcPts val="264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60.0</a:t>
            </a:r>
          </a:p>
          <a:p>
            <a:pPr marL="53975" marR="0">
              <a:lnSpc>
                <a:spcPts val="937"/>
              </a:lnSpc>
              <a:spcBef>
                <a:spcPts val="259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40.0</a:t>
            </a:r>
          </a:p>
          <a:p>
            <a:pPr marL="53975" marR="0">
              <a:lnSpc>
                <a:spcPts val="937"/>
              </a:lnSpc>
              <a:spcBef>
                <a:spcPts val="259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20.0</a:t>
            </a:r>
          </a:p>
          <a:p>
            <a:pPr marL="114300" marR="0">
              <a:lnSpc>
                <a:spcPts val="937"/>
              </a:lnSpc>
              <a:spcBef>
                <a:spcPts val="259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0.0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744105" y="2673542"/>
            <a:ext cx="36901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90%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744105" y="2902677"/>
            <a:ext cx="36901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80%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744105" y="3131812"/>
            <a:ext cx="36901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70%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744105" y="3360948"/>
            <a:ext cx="36901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60%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20706" y="3583709"/>
            <a:ext cx="2208893" cy="320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Процентное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соотношение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касс</a:t>
            </a:r>
            <a:r>
              <a:rPr dirty="0" sz="1000" spc="196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50%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744105" y="3819218"/>
            <a:ext cx="369019" cy="1207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40%</a:t>
            </a:r>
          </a:p>
          <a:p>
            <a:pPr marL="0" marR="0">
              <a:lnSpc>
                <a:spcPts val="937"/>
              </a:lnSpc>
              <a:spcBef>
                <a:spcPts val="86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30%</a:t>
            </a:r>
          </a:p>
          <a:p>
            <a:pPr marL="0" marR="0">
              <a:lnSpc>
                <a:spcPts val="937"/>
              </a:lnSpc>
              <a:spcBef>
                <a:spcPts val="86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20%</a:t>
            </a:r>
          </a:p>
          <a:p>
            <a:pPr marL="0" marR="0">
              <a:lnSpc>
                <a:spcPts val="937"/>
              </a:lnSpc>
              <a:spcBef>
                <a:spcPts val="91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10%</a:t>
            </a:r>
          </a:p>
          <a:p>
            <a:pPr marL="53975" marR="0">
              <a:lnSpc>
                <a:spcPts val="937"/>
              </a:lnSpc>
              <a:spcBef>
                <a:spcPts val="86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0%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50341" y="4007022"/>
            <a:ext cx="2196884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Среднее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время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обработки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платежа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848350" y="4099122"/>
            <a:ext cx="229381" cy="503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991152" y="4205802"/>
            <a:ext cx="388832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Итог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25419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304500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783580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262661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584351" y="5859223"/>
            <a:ext cx="1639634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Назавание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торговой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точки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010888" y="5859223"/>
            <a:ext cx="1301905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Дни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(Сентябрь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2022)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639" y="728674"/>
            <a:ext cx="12122279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Изменения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длительности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операций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01.09.22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80344" y="1933950"/>
            <a:ext cx="2399941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1400" spc="-42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операций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по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ТТ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88398" y="1933950"/>
            <a:ext cx="3373300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Средняя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длительность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операций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по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ТТ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51641" y="2228507"/>
            <a:ext cx="345244" cy="21538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180</a:t>
            </a:r>
          </a:p>
          <a:p>
            <a:pPr marL="0" marR="0">
              <a:lnSpc>
                <a:spcPts val="937"/>
              </a:lnSpc>
              <a:spcBef>
                <a:spcPts val="204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160</a:t>
            </a:r>
          </a:p>
          <a:p>
            <a:pPr marL="0" marR="0">
              <a:lnSpc>
                <a:spcPts val="937"/>
              </a:lnSpc>
              <a:spcBef>
                <a:spcPts val="199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140</a:t>
            </a:r>
          </a:p>
          <a:p>
            <a:pPr marL="0" marR="0">
              <a:lnSpc>
                <a:spcPts val="937"/>
              </a:lnSpc>
              <a:spcBef>
                <a:spcPts val="199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120</a:t>
            </a:r>
          </a:p>
          <a:p>
            <a:pPr marL="0" marR="0">
              <a:lnSpc>
                <a:spcPts val="937"/>
              </a:lnSpc>
              <a:spcBef>
                <a:spcPts val="204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</a:t>
            </a:r>
          </a:p>
          <a:p>
            <a:pPr marL="53975" marR="0">
              <a:lnSpc>
                <a:spcPts val="937"/>
              </a:lnSpc>
              <a:spcBef>
                <a:spcPts val="1996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481452" y="2228507"/>
            <a:ext cx="43202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350.0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81452" y="2707632"/>
            <a:ext cx="432029" cy="26861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300.0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250.0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200.0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150.0</a:t>
            </a:r>
          </a:p>
          <a:p>
            <a:pPr marL="0" marR="0">
              <a:lnSpc>
                <a:spcPts val="937"/>
              </a:lnSpc>
              <a:spcBef>
                <a:spcPts val="283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100.0</a:t>
            </a:r>
          </a:p>
          <a:p>
            <a:pPr marL="53975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50.0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46912" y="3671131"/>
            <a:ext cx="1296257" cy="7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Ленинский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пр-т,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162/1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пр-т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Вернадского,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88к3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Ракетный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б-р,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14к1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514546" y="3671131"/>
            <a:ext cx="1296257" cy="717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Ленинский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пр-т,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162/1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пр-т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Вернадского,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88к3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Ракетный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б-р,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14к1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75980" y="3899072"/>
            <a:ext cx="1370905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операций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171046" y="3899072"/>
            <a:ext cx="1503077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Длительность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операций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46912" y="4311211"/>
            <a:ext cx="1444558" cy="503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Симферопольский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б-р,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22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ул.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Щорса,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26/3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514546" y="4311211"/>
            <a:ext cx="1444558" cy="503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Симферопольский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б-р,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22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ул.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Щорса,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26/3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605616" y="4464426"/>
            <a:ext cx="287312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05616" y="4837080"/>
            <a:ext cx="287312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05616" y="5209734"/>
            <a:ext cx="287312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65941" y="5582387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595752" y="5582387"/>
            <a:ext cx="316166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0.0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34866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97123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159380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321636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83893" y="5720816"/>
            <a:ext cx="1402786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</a:t>
            </a:r>
            <a:r>
              <a:rPr dirty="0" sz="900" spc="368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</a:t>
            </a:r>
            <a:r>
              <a:rPr dirty="0" sz="900" spc="16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12</a:t>
            </a:r>
            <a:r>
              <a:rPr dirty="0" sz="900" spc="16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</a:t>
            </a:r>
            <a:r>
              <a:rPr dirty="0" sz="900" spc="16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dirty="0" sz="900" spc="16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18</a:t>
            </a:r>
            <a:r>
              <a:rPr dirty="0" sz="900" spc="16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</a:t>
            </a:r>
            <a:r>
              <a:rPr dirty="0" sz="900" spc="16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854212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038059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221906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405753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589600" y="5720816"/>
            <a:ext cx="1576586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</a:t>
            </a:r>
            <a:r>
              <a:rPr dirty="0" sz="900" spc="538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</a:t>
            </a:r>
            <a:r>
              <a:rPr dirty="0" sz="900" spc="33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12</a:t>
            </a:r>
            <a:r>
              <a:rPr dirty="0" sz="900" spc="33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</a:t>
            </a:r>
            <a:r>
              <a:rPr dirty="0" sz="900" spc="33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</a:t>
            </a:r>
            <a:r>
              <a:rPr dirty="0" sz="900" spc="33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18</a:t>
            </a:r>
            <a:r>
              <a:rPr dirty="0" sz="900" spc="33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</a:t>
            </a:r>
            <a:r>
              <a:rPr dirty="0" sz="900" spc="333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22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150578" y="5859223"/>
            <a:ext cx="1493685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Интервал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времени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(час)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294067" y="5859223"/>
            <a:ext cx="1493685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Интервал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времени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(час)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640" y="728674"/>
            <a:ext cx="11494705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Влияние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технических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сбоев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на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</a:rPr>
              <a:t>транзакции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31228" y="1933950"/>
            <a:ext cx="1426968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Сбой</a:t>
            </a:r>
            <a:r>
              <a:rPr dirty="0" sz="14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сервера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508119" y="1933950"/>
            <a:ext cx="1426968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Сбой</a:t>
            </a:r>
            <a:r>
              <a:rPr dirty="0" sz="1400" spc="15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сервера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2168" y="2228507"/>
            <a:ext cx="345244" cy="1727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560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540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520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500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16565" y="2228507"/>
            <a:ext cx="489960" cy="36444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160.00</a:t>
            </a:r>
          </a:p>
          <a:p>
            <a:pPr marL="0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140.00</a:t>
            </a:r>
          </a:p>
          <a:p>
            <a:pPr marL="0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120.00</a:t>
            </a:r>
          </a:p>
          <a:p>
            <a:pPr marL="0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100.00</a:t>
            </a:r>
          </a:p>
          <a:p>
            <a:pPr marL="3175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80.00</a:t>
            </a:r>
          </a:p>
          <a:p>
            <a:pPr marL="3175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60.00</a:t>
            </a:r>
          </a:p>
          <a:p>
            <a:pPr marL="3175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40.00</a:t>
            </a:r>
          </a:p>
          <a:p>
            <a:pPr marL="3175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20.00</a:t>
            </a:r>
          </a:p>
          <a:p>
            <a:pPr marL="0" marR="0">
              <a:lnSpc>
                <a:spcPts val="937"/>
              </a:lnSpc>
              <a:spcBef>
                <a:spcPts val="23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0.00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79059" y="2228507"/>
            <a:ext cx="345244" cy="1727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170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165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155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01392" y="2228507"/>
            <a:ext cx="489960" cy="36444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120.00</a:t>
            </a:r>
          </a:p>
          <a:p>
            <a:pPr marL="0" marR="0">
              <a:lnSpc>
                <a:spcPts val="937"/>
              </a:lnSpc>
              <a:spcBef>
                <a:spcPts val="34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100.00</a:t>
            </a:r>
          </a:p>
          <a:p>
            <a:pPr marL="3175" marR="0">
              <a:lnSpc>
                <a:spcPts val="937"/>
              </a:lnSpc>
              <a:spcBef>
                <a:spcPts val="34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80.00</a:t>
            </a:r>
          </a:p>
          <a:p>
            <a:pPr marL="3175" marR="0">
              <a:lnSpc>
                <a:spcPts val="937"/>
              </a:lnSpc>
              <a:spcBef>
                <a:spcPts val="34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60.00</a:t>
            </a:r>
          </a:p>
          <a:p>
            <a:pPr marL="3175" marR="0">
              <a:lnSpc>
                <a:spcPts val="937"/>
              </a:lnSpc>
              <a:spcBef>
                <a:spcPts val="34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40.00</a:t>
            </a:r>
          </a:p>
          <a:p>
            <a:pPr marL="3175" marR="0">
              <a:lnSpc>
                <a:spcPts val="937"/>
              </a:lnSpc>
              <a:spcBef>
                <a:spcPts val="34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20.00</a:t>
            </a:r>
          </a:p>
          <a:p>
            <a:pPr marL="0" marR="0">
              <a:lnSpc>
                <a:spcPts val="937"/>
              </a:lnSpc>
              <a:spcBef>
                <a:spcPts val="3463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0.00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77666" y="3899072"/>
            <a:ext cx="827360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Транзакции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54558" y="3899072"/>
            <a:ext cx="827360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Транзакции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16653" y="3991172"/>
            <a:ext cx="1333418" cy="503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46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транзикций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Среднее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значение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701480" y="3991172"/>
            <a:ext cx="1325400" cy="503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46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Среднее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значение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2168" y="4145009"/>
            <a:ext cx="345244" cy="17279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480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460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440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420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79059" y="4145009"/>
            <a:ext cx="345244" cy="17279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150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145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140</a:t>
            </a:r>
          </a:p>
          <a:p>
            <a:pPr marL="0" marR="0">
              <a:lnSpc>
                <a:spcPts val="937"/>
              </a:lnSpc>
              <a:spcBef>
                <a:spcPts val="288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135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85656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67310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448965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63869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48170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432469" y="5720816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487935" y="5859223"/>
            <a:ext cx="408843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Дни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468795" y="5859223"/>
            <a:ext cx="408843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Дни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362726" y="1095750"/>
            <a:ext cx="2695938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Динамика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роста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среднего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чека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1228" y="1135688"/>
            <a:ext cx="3207147" cy="103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Эффективность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30006" y="1390307"/>
            <a:ext cx="403175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3500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12932" y="1390307"/>
            <a:ext cx="461106" cy="41667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20400</a:t>
            </a:r>
          </a:p>
          <a:p>
            <a:pPr marL="0" marR="0">
              <a:lnSpc>
                <a:spcPts val="937"/>
              </a:lnSpc>
              <a:spcBef>
                <a:spcPts val="4199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19900</a:t>
            </a:r>
          </a:p>
          <a:p>
            <a:pPr marL="0" marR="0">
              <a:lnSpc>
                <a:spcPts val="937"/>
              </a:lnSpc>
              <a:spcBef>
                <a:spcPts val="4199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19400</a:t>
            </a:r>
          </a:p>
          <a:p>
            <a:pPr marL="0" marR="0">
              <a:lnSpc>
                <a:spcPts val="937"/>
              </a:lnSpc>
              <a:spcBef>
                <a:spcPts val="4199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18900</a:t>
            </a:r>
          </a:p>
          <a:p>
            <a:pPr marL="0" marR="0">
              <a:lnSpc>
                <a:spcPts val="937"/>
              </a:lnSpc>
              <a:spcBef>
                <a:spcPts val="4199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18400</a:t>
            </a:r>
          </a:p>
          <a:p>
            <a:pPr marL="0" marR="0">
              <a:lnSpc>
                <a:spcPts val="937"/>
              </a:lnSpc>
              <a:spcBef>
                <a:spcPts val="4199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17900</a:t>
            </a:r>
          </a:p>
          <a:p>
            <a:pPr marL="0" marR="0">
              <a:lnSpc>
                <a:spcPts val="937"/>
              </a:lnSpc>
              <a:spcBef>
                <a:spcPts val="4199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17400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1228" y="1574600"/>
            <a:ext cx="4328261" cy="10330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маркетинговой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акции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630006" y="1874828"/>
            <a:ext cx="403175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3480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9311" y="2134972"/>
            <a:ext cx="918504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среднее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5-6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946459" y="2134972"/>
            <a:ext cx="563574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18430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30006" y="2359349"/>
            <a:ext cx="403175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3460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49311" y="2553998"/>
            <a:ext cx="1512113" cy="818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аплифт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среднего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чека</a:t>
            </a:r>
          </a:p>
          <a:p>
            <a:pPr marL="0" marR="0">
              <a:lnSpc>
                <a:spcPts val="1146"/>
              </a:lnSpc>
              <a:spcBef>
                <a:spcPts val="72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аплифт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в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процентах</a:t>
            </a:r>
          </a:p>
          <a:p>
            <a:pPr marL="0" marR="0">
              <a:lnSpc>
                <a:spcPts val="1146"/>
              </a:lnSpc>
              <a:spcBef>
                <a:spcPts val="67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прирост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выручки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950428" y="2553998"/>
            <a:ext cx="637014" cy="5866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762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484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₽</a:t>
            </a:r>
          </a:p>
          <a:p>
            <a:pPr marL="0" marR="0">
              <a:lnSpc>
                <a:spcPts val="1146"/>
              </a:lnSpc>
              <a:spcBef>
                <a:spcPts val="72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8,05%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30006" y="2843869"/>
            <a:ext cx="403175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3440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771757" y="3017012"/>
            <a:ext cx="869889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069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497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₽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61476" y="3322016"/>
            <a:ext cx="1724963" cy="3196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3420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482858" y="3414115"/>
            <a:ext cx="1428876" cy="5039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46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Количество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транзакций</a:t>
            </a:r>
          </a:p>
          <a:p>
            <a:pPr marL="0" marR="0">
              <a:lnSpc>
                <a:spcPts val="937"/>
              </a:lnSpc>
              <a:spcBef>
                <a:spcPts val="792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Средняя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сумма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платежей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30006" y="3812911"/>
            <a:ext cx="403175" cy="17441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3400</a:t>
            </a:r>
          </a:p>
          <a:p>
            <a:pPr marL="0" marR="0">
              <a:lnSpc>
                <a:spcPts val="937"/>
              </a:lnSpc>
              <a:spcBef>
                <a:spcPts val="2927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3380</a:t>
            </a:r>
          </a:p>
          <a:p>
            <a:pPr marL="0" marR="0">
              <a:lnSpc>
                <a:spcPts val="937"/>
              </a:lnSpc>
              <a:spcBef>
                <a:spcPts val="2877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3360</a:t>
            </a:r>
          </a:p>
          <a:p>
            <a:pPr marL="0" marR="0">
              <a:lnSpc>
                <a:spcPts val="937"/>
              </a:lnSpc>
              <a:spcBef>
                <a:spcPts val="2877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3340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9311" y="3943040"/>
            <a:ext cx="554229" cy="7741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косты</a:t>
            </a:r>
          </a:p>
          <a:p>
            <a:pPr marL="0" marR="0">
              <a:lnSpc>
                <a:spcPts val="1146"/>
              </a:lnSpc>
              <a:spcBef>
                <a:spcPts val="2153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961190" y="4362066"/>
            <a:ext cx="696940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000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₽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49311" y="4781092"/>
            <a:ext cx="351159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961190" y="4781092"/>
            <a:ext cx="696940" cy="5866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10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000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₽</a:t>
            </a:r>
          </a:p>
          <a:p>
            <a:pPr marL="157860" marR="0">
              <a:lnSpc>
                <a:spcPts val="1146"/>
              </a:lnSpc>
              <a:spcBef>
                <a:spcPts val="726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750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₽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49311" y="5012599"/>
            <a:ext cx="492769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2758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49311" y="5244106"/>
            <a:ext cx="910472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косты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итого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771757" y="5244106"/>
            <a:ext cx="869889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418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500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₽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391589" y="5404904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308782" y="5404904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225976" y="5404904"/>
            <a:ext cx="229381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229407" y="5543309"/>
            <a:ext cx="408843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Дни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49311" y="5707120"/>
            <a:ext cx="2115750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Прибыль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от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проведения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акции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771757" y="5707120"/>
            <a:ext cx="869889" cy="3551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4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2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650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997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00"/>
                </a:solidFill>
                <a:latin typeface="Calibri"/>
                <a:cs typeface="Calibri"/>
              </a:rPr>
              <a:t>₽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31228" y="696776"/>
            <a:ext cx="4353322" cy="19108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34"/>
              </a:lnSpc>
              <a:spcBef>
                <a:spcPts val="0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Экономия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если</a:t>
            </a:r>
          </a:p>
          <a:p>
            <a:pPr marL="0" marR="0">
              <a:lnSpc>
                <a:spcPts val="3334"/>
              </a:lnSpc>
              <a:spcBef>
                <a:spcPts val="171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уменьшить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скидки</a:t>
            </a:r>
            <a:r>
              <a:rPr dirty="0" sz="3200" spc="2175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&gt;</a:t>
            </a:r>
          </a:p>
          <a:p>
            <a:pPr marL="0" marR="0">
              <a:lnSpc>
                <a:spcPts val="3334"/>
              </a:lnSpc>
              <a:spcBef>
                <a:spcPts val="121"/>
              </a:spcBef>
              <a:spcAft>
                <a:spcPts val="0"/>
              </a:spcAft>
            </a:pP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3%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на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1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 </a:t>
            </a:r>
            <a:r>
              <a:rPr dirty="0" sz="3200">
                <a:solidFill>
                  <a:srgbClr val="000000"/>
                </a:solidFill>
                <a:latin typeface="UPLWTL+Calibri-Light"/>
                <a:cs typeface="UPLWTL+Calibri-Light"/>
              </a:rPr>
              <a:t>п.п.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19154" y="1095750"/>
            <a:ext cx="4037849" cy="451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Динамика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скидок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в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процентном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595959"/>
                </a:solidFill>
                <a:latin typeface="Calibri"/>
                <a:cs typeface="Calibri"/>
              </a:rPr>
              <a:t>соотношении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28531" y="1390307"/>
            <a:ext cx="57696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2000000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91213" y="1679680"/>
            <a:ext cx="57696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404040"/>
                </a:solidFill>
                <a:latin typeface="Calibri"/>
                <a:cs typeface="Calibri"/>
              </a:rPr>
              <a:t>1779265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28531" y="1777924"/>
            <a:ext cx="57696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1800000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28531" y="2165540"/>
            <a:ext cx="57696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1600000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128531" y="2553157"/>
            <a:ext cx="57696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1400000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66065" y="2695564"/>
            <a:ext cx="57696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404040"/>
                </a:solidFill>
                <a:latin typeface="Calibri"/>
                <a:cs typeface="Calibri"/>
              </a:rPr>
              <a:t>1255096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128531" y="2940774"/>
            <a:ext cx="576969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1200000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31228" y="3201316"/>
            <a:ext cx="3587068" cy="7359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Средняя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потеря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на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транзакцию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до</a:t>
            </a:r>
          </a:p>
          <a:p>
            <a:pPr marL="0" marR="0">
              <a:lnSpc>
                <a:spcPts val="1667"/>
              </a:lnSpc>
              <a:spcBef>
                <a:spcPts val="1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уменьшения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составляет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131,65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р.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366153" y="3322016"/>
            <a:ext cx="1350415" cy="3154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Сумма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скидки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1000000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023599" y="3520796"/>
            <a:ext cx="388832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Итог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182506" y="3716007"/>
            <a:ext cx="519038" cy="18410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800000</a:t>
            </a:r>
          </a:p>
          <a:p>
            <a:pPr marL="0" marR="0">
              <a:lnSpc>
                <a:spcPts val="937"/>
              </a:lnSpc>
              <a:spcBef>
                <a:spcPts val="216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600000</a:t>
            </a:r>
          </a:p>
          <a:p>
            <a:pPr marL="0" marR="0">
              <a:lnSpc>
                <a:spcPts val="937"/>
              </a:lnSpc>
              <a:spcBef>
                <a:spcPts val="211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400000</a:t>
            </a:r>
          </a:p>
          <a:p>
            <a:pPr marL="0" marR="0">
              <a:lnSpc>
                <a:spcPts val="937"/>
              </a:lnSpc>
              <a:spcBef>
                <a:spcPts val="216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200000</a:t>
            </a:r>
          </a:p>
          <a:p>
            <a:pPr marL="288925" marR="0">
              <a:lnSpc>
                <a:spcPts val="937"/>
              </a:lnSpc>
              <a:spcBef>
                <a:spcPts val="2114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966316" y="3724575"/>
            <a:ext cx="519038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404040"/>
                </a:solidFill>
                <a:latin typeface="Calibri"/>
                <a:cs typeface="Calibri"/>
              </a:rPr>
              <a:t>724153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31228" y="4079140"/>
            <a:ext cx="3974064" cy="9554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67"/>
              </a:lnSpc>
              <a:spcBef>
                <a:spcPts val="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Средняя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потеря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на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1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транзакцию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при</a:t>
            </a:r>
          </a:p>
          <a:p>
            <a:pPr marL="0" marR="0">
              <a:lnSpc>
                <a:spcPts val="1667"/>
              </a:lnSpc>
              <a:spcBef>
                <a:spcPts val="1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уменьшении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составляет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115,04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р.</a:t>
            </a:r>
          </a:p>
          <a:p>
            <a:pPr marL="0" marR="0">
              <a:lnSpc>
                <a:spcPts val="1667"/>
              </a:lnSpc>
              <a:spcBef>
                <a:spcPts val="10"/>
              </a:spcBef>
              <a:spcAft>
                <a:spcPts val="0"/>
              </a:spcAft>
            </a:pP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Уменьшение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потерь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бизнеса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на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000000"/>
                </a:solidFill>
                <a:latin typeface="Calibri"/>
                <a:cs typeface="Calibri"/>
              </a:rPr>
              <a:t>12,62%.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041761" y="4658179"/>
            <a:ext cx="519038" cy="10372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404040"/>
                </a:solidFill>
                <a:latin typeface="Calibri"/>
                <a:cs typeface="Calibri"/>
              </a:rPr>
              <a:t>242438</a:t>
            </a:r>
          </a:p>
          <a:p>
            <a:pPr marL="30162" marR="0">
              <a:lnSpc>
                <a:spcPts val="937"/>
              </a:lnSpc>
              <a:spcBef>
                <a:spcPts val="4991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до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1%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28229" y="5404904"/>
            <a:ext cx="404012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1-2%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053377" y="5404904"/>
            <a:ext cx="404012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2-3%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959463" y="5404904"/>
            <a:ext cx="629774" cy="2905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более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595959"/>
                </a:solidFill>
                <a:latin typeface="Calibri"/>
                <a:cs typeface="Calibri"/>
              </a:rPr>
              <a:t>3%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244866" y="5543309"/>
            <a:ext cx="1059754" cy="3228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4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Процент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595959"/>
                </a:solidFill>
                <a:latin typeface="Calibri"/>
                <a:cs typeface="Calibri"/>
              </a:rPr>
              <a:t>скидки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9640" y="2407074"/>
            <a:ext cx="8760689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Ссылка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на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графики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и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 </a:t>
            </a:r>
            <a:r>
              <a:rPr dirty="0" sz="4400">
                <a:solidFill>
                  <a:srgbClr val="000000"/>
                </a:solidFill>
                <a:latin typeface="UPLWTL+Calibri-Light"/>
                <a:cs typeface="UPLWTL+Calibri-Light"/>
                <a:hlinkClick r:id="rId3"/>
              </a:rPr>
              <a:t>дашборды: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9640" y="3010578"/>
            <a:ext cx="11682631" cy="26274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trike="sngStrike">
                <a:solidFill>
                  <a:srgbClr val="0563c1"/>
                </a:solidFill>
                <a:latin typeface="UPLWTL+Calibri-Light"/>
                <a:cs typeface="UPLWTL+Calibri-Light"/>
                <a:hlinkClick r:id="rId3"/>
              </a:rPr>
              <a:t>https://docs.google.com/spreadsheets/d/1Jz</a:t>
            </a:r>
          </a:p>
          <a:p>
            <a:pPr marL="0" marR="0">
              <a:lnSpc>
                <a:spcPts val="4584"/>
              </a:lnSpc>
              <a:spcBef>
                <a:spcPts val="117"/>
              </a:spcBef>
              <a:spcAft>
                <a:spcPts val="0"/>
              </a:spcAft>
            </a:pPr>
            <a:r>
              <a:rPr dirty="0" sz="4400" strike="sngStrike">
                <a:solidFill>
                  <a:srgbClr val="0563c1"/>
                </a:solidFill>
                <a:latin typeface="UPLWTL+Calibri-Light"/>
                <a:cs typeface="UPLWTL+Calibri-Light"/>
                <a:hlinkClick r:id="rId3"/>
              </a:rPr>
              <a:t>0Vfgq4kjABFjfLpwoQf8as2O2byhRW3p2XY66</a:t>
            </a:r>
          </a:p>
          <a:p>
            <a:pPr marL="0" marR="0">
              <a:lnSpc>
                <a:spcPts val="4584"/>
              </a:lnSpc>
              <a:spcBef>
                <a:spcPts val="167"/>
              </a:spcBef>
              <a:spcAft>
                <a:spcPts val="0"/>
              </a:spcAft>
            </a:pPr>
            <a:r>
              <a:rPr dirty="0" sz="4400" strike="sngStrike">
                <a:solidFill>
                  <a:srgbClr val="0563c1"/>
                </a:solidFill>
                <a:latin typeface="UPLWTL+Calibri-Light"/>
                <a:cs typeface="UPLWTL+Calibri-Light"/>
                <a:hlinkClick r:id="rId3"/>
              </a:rPr>
              <a:t>DX8I/edit?gid=987017337#gid=987017337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pdfcandle</dc:creator>
  <cp:lastModifiedBy>pdfcandle</cp:lastModifiedBy>
  <cp:revision>1</cp:revision>
  <dcterms:modified xsi:type="dcterms:W3CDTF">2026-06-10T03:07:38-07:00</dcterms:modified>
</cp:coreProperties>
</file>